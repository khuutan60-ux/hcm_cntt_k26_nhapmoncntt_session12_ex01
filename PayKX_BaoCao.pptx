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Phí ngân hàng (VND)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Thành công</c:v>
                </c:pt>
                <c:pt idx="1">
                  <c:v>Hoàn tiền</c:v>
                </c:pt>
                <c:pt idx="2">
                  <c:v>Đang xử lý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9690</c:v>
                </c:pt>
                <c:pt idx="1">
                  <c:v>500</c:v>
                </c:pt>
                <c:pt idx="2">
                  <c:v>3000</c:v>
                </c:pt>
              </c:numCache>
            </c:numRef>
          </c:val>
        </c:ser>
        <c:dLbls>
          <c:txPr>
            <a:bodyPr/>
            <a:lstStyle/>
            <a:p>
              <a:pPr>
                <a:defRPr sz="18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title>
          <c:tx>
            <c:rich>
              <a:bodyPr/>
              <a:lstStyle/>
              <a:p>
                <a:r>
                  <a:t>Phí (VND)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6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3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Arial"/>
              </a:defRPr>
            </a:pPr>
            <a:r>
              <a:t>PayKX | BÁO CÁO ĐỐI SOÁT THÁNG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424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69DCDC"/>
                </a:solidFill>
                <a:latin typeface="Arial"/>
              </a:defRPr>
            </a:pPr>
            <a:r>
              <a:t>Phí ngân hàng tập trung ở giao dịch thành công; cần theo dõi riêng hoàn tiền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297680"/>
            <a:ext cx="9875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E6EEF5"/>
                </a:solidFill>
                <a:latin typeface="Arial"/>
              </a:defRPr>
            </a:pPr>
            <a:r>
              <a:t>Bộ dữ liệu mô phỏng • Tháng 10/2026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8521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8D7E6"/>
                </a:solidFill>
                <a:latin typeface="Arial"/>
              </a:defRPr>
            </a:pPr>
            <a:r>
              <a:t>PayKX — Ví điện tử dành cho sinh viên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D2340"/>
                </a:solidFill>
                <a:latin typeface="Arial"/>
              </a:defRPr>
            </a:pPr>
            <a:r>
              <a:t>Phí đối soát cao nhất ở giao dịch thành công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640080" y="1325880"/>
          <a:ext cx="7315200" cy="4846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8321040" y="164592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BE4632"/>
                </a:solidFill>
                <a:latin typeface="Arial"/>
              </a:defRPr>
            </a:pPr>
            <a:r>
              <a:t>12 giao dịch? Không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21040" y="2423160"/>
            <a:ext cx="32918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E2D41"/>
                </a:solidFill>
                <a:latin typeface="Arial"/>
              </a:defRPr>
            </a:pPr>
            <a:r>
              <a:t>8 giao dịch mẫu</a:t>
            </a:r>
            <a:br/>
            <a:r>
              <a:t>Tổng phí: 13.190 VND</a:t>
            </a:r>
            <a:br/>
            <a:r>
              <a:t>Phí thành công: 9.690 VND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21040" y="484632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E2D41"/>
                </a:solidFill>
                <a:latin typeface="Arial"/>
              </a:defRPr>
            </a:pPr>
            <a:r>
              <a:t>Hành động: rà soát khoản hoàn và giao dịch đang xử lý trước khi chốt kỳ.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3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Arial"/>
              </a:defRPr>
            </a:pPr>
            <a:r>
              <a:t>Ưu tiên đối soát trạng thái trước khi chốt phí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08760"/>
            <a:ext cx="914400" cy="658368"/>
          </a:xfrm>
          <a:prstGeom prst="roundRect">
            <a:avLst/>
          </a:prstGeom>
          <a:solidFill>
            <a:srgbClr val="0091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20240" y="1554480"/>
            <a:ext cx="9418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FFFFF"/>
                </a:solidFill>
                <a:latin typeface="Arial"/>
              </a:defRPr>
            </a:pPr>
            <a:r>
              <a:t>Đối chiếu mã giao dịch và mã tham chiếu ngân hàng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606039"/>
            <a:ext cx="914400" cy="658368"/>
          </a:xfrm>
          <a:prstGeom prst="roundRect">
            <a:avLst/>
          </a:prstGeom>
          <a:solidFill>
            <a:srgbClr val="0091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0240" y="2651759"/>
            <a:ext cx="9418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FFFFF"/>
                </a:solidFill>
                <a:latin typeface="Arial"/>
              </a:defRPr>
            </a:pPr>
            <a:r>
              <a:t>Kiểm tra giao dịch hoàn tiền và phí liên quan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703320"/>
            <a:ext cx="914400" cy="658368"/>
          </a:xfrm>
          <a:prstGeom prst="roundRect">
            <a:avLst/>
          </a:prstGeom>
          <a:solidFill>
            <a:srgbClr val="0091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3749039"/>
            <a:ext cx="9418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FFFFF"/>
                </a:solidFill>
                <a:latin typeface="Arial"/>
              </a:defRPr>
            </a:pPr>
            <a:r>
              <a:t>Xử lý #N/A, khoảng trắng và mã không khớp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800600"/>
            <a:ext cx="914400" cy="658368"/>
          </a:xfrm>
          <a:prstGeom prst="roundRect">
            <a:avLst/>
          </a:prstGeom>
          <a:solidFill>
            <a:srgbClr val="0091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4846320"/>
            <a:ext cx="9418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FFFFF"/>
                </a:solidFill>
                <a:latin typeface="Arial"/>
              </a:defRPr>
            </a:pPr>
            <a:r>
              <a:t>Lưu nhật ký điều chỉnh và phê duyệt chốt kỳ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98932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8D7E6"/>
                </a:solidFill>
                <a:latin typeface="Arial"/>
              </a:defRPr>
            </a:pPr>
            <a:r>
              <a:t>Lưu ý: số liệu là ví dụ mô phỏng, không phải dữ liệu ngân hàng thực tế.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